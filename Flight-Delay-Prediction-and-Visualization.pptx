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Merriweather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7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29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4952-4375-9EC0-063C-9F02E200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3FBBB-2FC5-D11D-C869-411E33B87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BE3B8-C9F4-3767-02F1-6372B2FF8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28698-BDD8-A432-4DFF-E87A60576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164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2624733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Flight Delay Prediction and Visualization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4537472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Analysis and Insights using Python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5209937"/>
            <a:ext cx="7416403" cy="92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669C6-1B69-6D92-8AD7-0CAD7BA979A3}"/>
              </a:ext>
            </a:extLst>
          </p:cNvPr>
          <p:cNvSpPr/>
          <p:nvPr/>
        </p:nvSpPr>
        <p:spPr>
          <a:xfrm>
            <a:off x="12516592" y="7101444"/>
            <a:ext cx="2113808" cy="112815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3E2C04-9CC3-AA58-58C6-3E18340E5E5C}"/>
              </a:ext>
            </a:extLst>
          </p:cNvPr>
          <p:cNvSpPr/>
          <p:nvPr/>
        </p:nvSpPr>
        <p:spPr>
          <a:xfrm>
            <a:off x="5486400" y="6970816"/>
            <a:ext cx="2766951" cy="1258784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Presented by: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Maheen Shahid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Hoor-ul-ain Wajid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127A6-C790-8363-2AA7-AB073E54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B7F05D-5862-10E0-FDAE-B04F814AED4B}"/>
              </a:ext>
            </a:extLst>
          </p:cNvPr>
          <p:cNvSpPr/>
          <p:nvPr/>
        </p:nvSpPr>
        <p:spPr>
          <a:xfrm>
            <a:off x="863798" y="1128157"/>
            <a:ext cx="7663577" cy="789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7A070E-3E30-D203-EC87-EBBB64870ADE}"/>
              </a:ext>
            </a:extLst>
          </p:cNvPr>
          <p:cNvSpPr/>
          <p:nvPr/>
        </p:nvSpPr>
        <p:spPr>
          <a:xfrm>
            <a:off x="863798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45642A-C51B-B39A-A202-B837F9F07FFD}"/>
              </a:ext>
            </a:extLst>
          </p:cNvPr>
          <p:cNvSpPr/>
          <p:nvPr/>
        </p:nvSpPr>
        <p:spPr>
          <a:xfrm>
            <a:off x="863798" y="4619268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675C9A-27F5-C6D2-ED8C-168C8D68EC64}"/>
              </a:ext>
            </a:extLst>
          </p:cNvPr>
          <p:cNvSpPr/>
          <p:nvPr/>
        </p:nvSpPr>
        <p:spPr>
          <a:xfrm>
            <a:off x="5372576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8686D8A-5FAC-8EB3-ED25-E087A96D08DA}"/>
              </a:ext>
            </a:extLst>
          </p:cNvPr>
          <p:cNvSpPr/>
          <p:nvPr/>
        </p:nvSpPr>
        <p:spPr>
          <a:xfrm>
            <a:off x="5372576" y="4619268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302BF2-BB61-E4BE-6EF7-8ECF3A7B8508}"/>
              </a:ext>
            </a:extLst>
          </p:cNvPr>
          <p:cNvSpPr/>
          <p:nvPr/>
        </p:nvSpPr>
        <p:spPr>
          <a:xfrm>
            <a:off x="9881354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927C135-5218-3FB1-A4BD-1819F6CCE26D}"/>
              </a:ext>
            </a:extLst>
          </p:cNvPr>
          <p:cNvSpPr/>
          <p:nvPr/>
        </p:nvSpPr>
        <p:spPr>
          <a:xfrm>
            <a:off x="9881354" y="4619268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A9B1D-CD55-C59A-9DCE-5ED63776593B}"/>
              </a:ext>
            </a:extLst>
          </p:cNvPr>
          <p:cNvSpPr/>
          <p:nvPr/>
        </p:nvSpPr>
        <p:spPr>
          <a:xfrm>
            <a:off x="12754099" y="7433953"/>
            <a:ext cx="1876301" cy="78962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4A4F3-5A8B-7D93-10F0-F3B81D05270D}"/>
              </a:ext>
            </a:extLst>
          </p:cNvPr>
          <p:cNvSpPr/>
          <p:nvPr/>
        </p:nvSpPr>
        <p:spPr>
          <a:xfrm>
            <a:off x="448162" y="2173185"/>
            <a:ext cx="9325230" cy="46432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>
              <a:buNone/>
            </a:pPr>
            <a:r>
              <a:rPr lang="en-US" sz="1750" dirty="0">
                <a:effectLst/>
                <a:latin typeface="Merriweather" panose="00000500000000000000" pitchFamily="2" charset="0"/>
              </a:rPr>
              <a:t>Flights are an important way for people to travel.</a:t>
            </a:r>
            <a:endParaRPr lang="en-US" sz="1750" dirty="0">
              <a:latin typeface="Merriweather" panose="00000500000000000000" pitchFamily="2" charset="0"/>
            </a:endParaRPr>
          </a:p>
          <a:p>
            <a:pPr rtl="0">
              <a:buNone/>
            </a:pPr>
            <a:br>
              <a:rPr lang="en-US" sz="1750" dirty="0">
                <a:latin typeface="Merriweather" panose="00000500000000000000" pitchFamily="2" charset="0"/>
              </a:rPr>
            </a:br>
            <a:endParaRPr lang="en-US" sz="1750" dirty="0">
              <a:latin typeface="Merriweather" panose="00000500000000000000" pitchFamily="2" charset="0"/>
            </a:endParaRPr>
          </a:p>
          <a:p>
            <a:pPr rtl="0">
              <a:buNone/>
            </a:pPr>
            <a:r>
              <a:rPr lang="en-US" sz="1750" dirty="0">
                <a:effectLst/>
                <a:latin typeface="Merriweather" panose="00000500000000000000" pitchFamily="2" charset="0"/>
              </a:rPr>
              <a:t>But sometimes, flights get delayed — this causes problems for both passengers and airlines.</a:t>
            </a:r>
            <a:endParaRPr lang="en-US" sz="1750" dirty="0">
              <a:latin typeface="Merriweather" panose="00000500000000000000" pitchFamily="2" charset="0"/>
            </a:endParaRPr>
          </a:p>
          <a:p>
            <a:pPr rtl="0">
              <a:buNone/>
            </a:pPr>
            <a:br>
              <a:rPr lang="en-US" sz="1750" dirty="0">
                <a:latin typeface="Merriweather" panose="00000500000000000000" pitchFamily="2" charset="0"/>
              </a:rPr>
            </a:br>
            <a:endParaRPr lang="en-US" sz="1750" dirty="0">
              <a:latin typeface="Merriweather" panose="00000500000000000000" pitchFamily="2" charset="0"/>
            </a:endParaRPr>
          </a:p>
          <a:p>
            <a:pPr rtl="0">
              <a:buNone/>
            </a:pPr>
            <a:r>
              <a:rPr lang="en-US" sz="1750" dirty="0">
                <a:effectLst/>
                <a:latin typeface="Merriweather" panose="00000500000000000000" pitchFamily="2" charset="0"/>
              </a:rPr>
              <a:t>Delays can happen because of bad weather, technical problems, or busy airports.</a:t>
            </a:r>
            <a:endParaRPr lang="en-US" sz="1750" dirty="0">
              <a:latin typeface="Merriweather" panose="00000500000000000000" pitchFamily="2" charset="0"/>
            </a:endParaRPr>
          </a:p>
          <a:p>
            <a:pPr rtl="0">
              <a:buNone/>
            </a:pPr>
            <a:br>
              <a:rPr lang="en-US" sz="1750" dirty="0">
                <a:latin typeface="Merriweather" panose="00000500000000000000" pitchFamily="2" charset="0"/>
              </a:rPr>
            </a:br>
            <a:endParaRPr lang="en-US" sz="1750" dirty="0">
              <a:latin typeface="Merriweather" panose="00000500000000000000" pitchFamily="2" charset="0"/>
            </a:endParaRPr>
          </a:p>
          <a:p>
            <a:pPr rtl="0"/>
            <a:r>
              <a:rPr lang="en-US" sz="1750" dirty="0">
                <a:effectLst/>
                <a:latin typeface="Merriweather" panose="00000500000000000000" pitchFamily="2" charset="0"/>
              </a:rPr>
              <a:t>In this project, we will look at flight data to understand when and why delays happen.</a:t>
            </a:r>
            <a:endParaRPr lang="en-US" sz="1750" dirty="0">
              <a:latin typeface="Merriweather" panose="00000500000000000000" pitchFamily="2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8131D24-89A9-A88D-6128-9CB93FF2B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024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814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8788" y="3582591"/>
            <a:ext cx="5562957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8788" y="4611648"/>
            <a:ext cx="6425208" cy="1297186"/>
          </a:xfrm>
          <a:prstGeom prst="roundRect">
            <a:avLst>
              <a:gd name="adj" fmla="val 72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008817" y="4841677"/>
            <a:ext cx="2781419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08817" y="5322808"/>
            <a:ext cx="5712617" cy="55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0">
              <a:buNone/>
            </a:pPr>
            <a:r>
              <a:rPr lang="en-US" sz="17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Analyze and visualize flight delay data to identify </a:t>
            </a:r>
          </a:p>
          <a:p>
            <a:pPr rtl="0">
              <a:buNone/>
            </a:pPr>
            <a:r>
              <a:rPr lang="en-US" sz="17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patterns and insights.</a:t>
            </a:r>
            <a:endParaRPr lang="en-US" sz="17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rtl="0">
              <a:buNone/>
            </a:pPr>
            <a:br>
              <a:rPr lang="en-US" sz="1600" dirty="0"/>
            </a:br>
            <a:endParaRPr lang="en-US" sz="1600" dirty="0"/>
          </a:p>
          <a:p>
            <a:pPr rtl="0"/>
            <a:br>
              <a:rPr lang="en-US" sz="1600" dirty="0"/>
            </a:br>
            <a:endParaRPr lang="en-US" sz="1600" dirty="0"/>
          </a:p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316080" y="4611648"/>
            <a:ext cx="6425208" cy="1297186"/>
          </a:xfrm>
          <a:prstGeom prst="roundRect">
            <a:avLst>
              <a:gd name="adj" fmla="val 72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656433" y="4726379"/>
            <a:ext cx="2781419" cy="37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656433" y="5189340"/>
            <a:ext cx="5596429" cy="686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Python, Pandas, Matplotlib, Seaborn, and Scikit-learn.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GB" sz="17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Visualization (Plotly, Power BI)</a:t>
            </a:r>
            <a:endParaRPr lang="en-US" sz="1700" dirty="0">
              <a:solidFill>
                <a:schemeClr val="bg1"/>
              </a:solidFill>
              <a:latin typeface="Merriweather" panose="00000500000000000000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8788" y="6131241"/>
            <a:ext cx="6310781" cy="1552093"/>
          </a:xfrm>
          <a:prstGeom prst="roundRect">
            <a:avLst>
              <a:gd name="adj" fmla="val 72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008817" y="6167559"/>
            <a:ext cx="2781419" cy="351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878774" y="6518642"/>
            <a:ext cx="6095193" cy="94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U.S. domestic flight data (includes delay times, distances, 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durations, etc.)</a:t>
            </a:r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3 million flight records with 32 columns.</a:t>
            </a:r>
            <a:endParaRPr lang="en-US" sz="1750" dirty="0">
              <a:solidFill>
                <a:schemeClr val="bg1"/>
              </a:solidFill>
              <a:latin typeface="Merriweather" panose="000005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16080" y="6032343"/>
            <a:ext cx="6535532" cy="1706720"/>
          </a:xfrm>
          <a:prstGeom prst="roundRect">
            <a:avLst>
              <a:gd name="adj" fmla="val 720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656433" y="6167559"/>
            <a:ext cx="2781419" cy="351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</a:rPr>
              <a:t>Key Focus Areas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656433" y="6629267"/>
            <a:ext cx="5287671" cy="105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Delay causes and distributions</a:t>
            </a:r>
            <a:endParaRPr lang="en-US" sz="17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Correlation between numerical features</a:t>
            </a:r>
            <a:endParaRPr lang="en-US" sz="17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Handling missing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  <a:latin typeface="Merriweather" panose="00000500000000000000" pitchFamily="2" charset="0"/>
              </a:rPr>
              <a:t>Insights through graph and heatmap</a:t>
            </a:r>
            <a:br>
              <a:rPr lang="en-US" sz="1700" dirty="0">
                <a:latin typeface="Merriweather" panose="00000500000000000000" pitchFamily="2" charset="0"/>
              </a:rPr>
            </a:br>
            <a:endParaRPr lang="en-US" sz="1700" dirty="0">
              <a:latin typeface="Merriweather" panose="00000500000000000000" pitchFamily="2" charset="0"/>
            </a:endParaRPr>
          </a:p>
          <a:p>
            <a:pPr rtl="0"/>
            <a:br>
              <a:rPr lang="en-US" sz="1600" dirty="0"/>
            </a:br>
            <a:endParaRPr lang="en-US" sz="1600" dirty="0"/>
          </a:p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EC0B8C-AE5D-30DF-40C1-5C189FF5BCB2}"/>
              </a:ext>
            </a:extLst>
          </p:cNvPr>
          <p:cNvSpPr/>
          <p:nvPr/>
        </p:nvSpPr>
        <p:spPr>
          <a:xfrm>
            <a:off x="12789725" y="7683335"/>
            <a:ext cx="1840675" cy="54626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2849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Description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6167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Record Count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24910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 million flight records for analysis.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6167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Columns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576" y="4249103"/>
            <a:ext cx="3898940" cy="2484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3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It includes 32 columns with both numerical and categorical data</a:t>
            </a:r>
            <a:r>
              <a:rPr lang="en-US" sz="2000" dirty="0">
                <a:effectLst/>
              </a:rPr>
              <a:t>.</a:t>
            </a:r>
            <a:endParaRPr lang="en-US" sz="19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FL_DATE, AIRLINE, ORIGIN, DEST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576" y="5038725"/>
            <a:ext cx="3898940" cy="87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endParaRPr lang="en-US" sz="19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3100"/>
              </a:lnSpc>
              <a:buSzPct val="100000"/>
            </a:pPr>
            <a:endParaRPr lang="en-US" sz="19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3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DEP_DELAY, ARR_DELAY, and 28 others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57164" y="3616762"/>
            <a:ext cx="268382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Values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153402" y="4249103"/>
            <a:ext cx="3626891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750" dirty="0">
                <a:solidFill>
                  <a:schemeClr val="bg1"/>
                </a:solidFill>
                <a:latin typeface="Merriweather" panose="00000500000000000000" pitchFamily="2" charset="0"/>
              </a:rPr>
              <a:t>Some delay columns have missing values (NaN) </a:t>
            </a:r>
            <a:r>
              <a:rPr lang="en-US" sz="2000" dirty="0"/>
              <a:t>which mean no delay.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50D44E-AAAC-3F2A-C4E0-0B97EEC8EC1D}"/>
              </a:ext>
            </a:extLst>
          </p:cNvPr>
          <p:cNvSpPr/>
          <p:nvPr/>
        </p:nvSpPr>
        <p:spPr>
          <a:xfrm>
            <a:off x="12682847" y="7422078"/>
            <a:ext cx="1947553" cy="80752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912852"/>
            <a:ext cx="714410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 Approach</a:t>
            </a:r>
            <a:endParaRPr lang="en-US" sz="4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198" y="2298816"/>
            <a:ext cx="1234083" cy="14808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54447" y="2177773"/>
            <a:ext cx="3085386" cy="410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Merriweather" panose="00000500000000000000" pitchFamily="2" charset="0"/>
              </a:rPr>
              <a:t>Handled Missing Column</a:t>
            </a:r>
          </a:p>
        </p:txBody>
      </p:sp>
      <p:sp>
        <p:nvSpPr>
          <p:cNvPr id="6" name="Text 2"/>
          <p:cNvSpPr/>
          <p:nvPr/>
        </p:nvSpPr>
        <p:spPr>
          <a:xfrm>
            <a:off x="7954448" y="2587824"/>
            <a:ext cx="5915932" cy="1152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rtl="0"/>
            <a:r>
              <a:rPr lang="en-US" sz="16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Delay reason columns (e.g., DELAY_DUE_WEATHER) had</a:t>
            </a:r>
          </a:p>
          <a:p>
            <a:pPr rtl="0"/>
            <a:r>
              <a:rPr lang="en-US" sz="16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many NaN values.</a:t>
            </a:r>
          </a:p>
          <a:p>
            <a:pPr rtl="0"/>
            <a:endParaRPr lang="en-US" sz="16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rtl="0"/>
            <a:r>
              <a:rPr lang="en-US" sz="16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These were assumed to mean no delay, so we replaced NaN</a:t>
            </a:r>
          </a:p>
          <a:p>
            <a:pPr rtl="0"/>
            <a:r>
              <a:rPr lang="en-US" sz="16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 with 0.</a:t>
            </a:r>
            <a:endParaRPr lang="en-US" sz="16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198" y="3811797"/>
            <a:ext cx="1234083" cy="18167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54447" y="4025735"/>
            <a:ext cx="3085386" cy="28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240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Used Imputation</a:t>
            </a:r>
            <a:endParaRPr lang="en-US" sz="2400" dirty="0">
              <a:solidFill>
                <a:schemeClr val="bg1"/>
              </a:solidFill>
              <a:latin typeface="Merriweather" panose="00000500000000000000" pitchFamily="2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954447" y="4463533"/>
            <a:ext cx="6390945" cy="8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0">
              <a:buNone/>
            </a:pPr>
            <a:r>
              <a:rPr lang="en-US" sz="175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For numeric columns with some missing values, we used the mean value to fill them</a:t>
            </a:r>
            <a:br>
              <a:rPr lang="en-US" sz="1750" dirty="0">
                <a:latin typeface="Merriweather" panose="00000500000000000000" pitchFamily="2" charset="0"/>
              </a:rPr>
            </a:br>
            <a:r>
              <a:rPr lang="en-US" sz="175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Used: </a:t>
            </a:r>
            <a:r>
              <a:rPr lang="en-US" sz="1750" dirty="0" err="1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SimpleImputer</a:t>
            </a:r>
            <a:r>
              <a:rPr lang="en-US" sz="1750" dirty="0"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(strategy='mean') from Scikit-learn</a:t>
            </a:r>
            <a:r>
              <a:rPr lang="en-US" sz="1750" dirty="0">
                <a:effectLst/>
                <a:latin typeface="Merriweather" panose="00000500000000000000" pitchFamily="2" charset="0"/>
              </a:rPr>
              <a:t>.</a:t>
            </a:r>
            <a:endParaRPr lang="en-US" sz="1750" dirty="0">
              <a:latin typeface="Merriweather" panose="00000500000000000000" pitchFamily="2" charset="0"/>
            </a:endParaRPr>
          </a:p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198" y="5692735"/>
            <a:ext cx="1234083" cy="19647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54447" y="5753449"/>
            <a:ext cx="3085386" cy="37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Merriweather" panose="00000500000000000000" pitchFamily="2" charset="0"/>
              </a:rPr>
              <a:t>Filtered Data</a:t>
            </a:r>
          </a:p>
        </p:txBody>
      </p:sp>
      <p:sp>
        <p:nvSpPr>
          <p:cNvPr id="12" name="Text 6"/>
          <p:cNvSpPr/>
          <p:nvPr/>
        </p:nvSpPr>
        <p:spPr>
          <a:xfrm>
            <a:off x="7954447" y="6314832"/>
            <a:ext cx="5812155" cy="813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erriweather" panose="00000500000000000000" pitchFamily="2" charset="0"/>
              </a:rPr>
              <a:t>Removed or adjusted invalid or extreme outliers (e.g.,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erriweather" panose="00000500000000000000" pitchFamily="2" charset="0"/>
              </a:rPr>
              <a:t> delays over 3000 minutes).</a:t>
            </a:r>
          </a:p>
        </p:txBody>
      </p:sp>
      <p:sp>
        <p:nvSpPr>
          <p:cNvPr id="13" name="Text 7"/>
          <p:cNvSpPr/>
          <p:nvPr/>
        </p:nvSpPr>
        <p:spPr>
          <a:xfrm>
            <a:off x="7954447" y="6734011"/>
            <a:ext cx="581215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2D1E7E-625E-AC01-5AA6-8889CA6B2E5C}"/>
              </a:ext>
            </a:extLst>
          </p:cNvPr>
          <p:cNvSpPr/>
          <p:nvPr/>
        </p:nvSpPr>
        <p:spPr>
          <a:xfrm>
            <a:off x="12599719" y="7316747"/>
            <a:ext cx="2030681" cy="912853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696522"/>
            <a:ext cx="618779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Correlation Heatmap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198" y="2837974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152323" y="2922746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Correlations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152323" y="3841790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DEP_DELAY closely aligns with ARR_DELAY.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212705" y="2837974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1014829" y="2922746"/>
            <a:ext cx="275189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Related Features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014829" y="3456265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ELAPSED_TIME correlates with AIR_TIME strongly.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198" y="5519857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152323" y="560462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Impact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152323" y="6138148"/>
            <a:ext cx="661427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Identifies key features for delay prediction models.</a:t>
            </a:r>
            <a:endParaRPr lang="en-US" sz="1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68BC6C-FE5B-991F-B78E-E4F1E1BDC050}"/>
              </a:ext>
            </a:extLst>
          </p:cNvPr>
          <p:cNvSpPr/>
          <p:nvPr/>
        </p:nvSpPr>
        <p:spPr>
          <a:xfrm>
            <a:off x="12777849" y="7469579"/>
            <a:ext cx="1852551" cy="76002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598658"/>
            <a:ext cx="7663577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Arrival Delay Distribution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Delay Range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619268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flights delayed between 0 and 50 minutes.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576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Skewness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576" y="4619268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Distribution is right-skewed with few extreme delays.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98692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Outliers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619268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Delays exceeding 1000 minutes are extremely rare.</a:t>
            </a: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54CF25-1ABB-A836-E513-1478BA1700D1}"/>
              </a:ext>
            </a:extLst>
          </p:cNvPr>
          <p:cNvSpPr/>
          <p:nvPr/>
        </p:nvSpPr>
        <p:spPr>
          <a:xfrm>
            <a:off x="12754099" y="7433953"/>
            <a:ext cx="1876301" cy="78962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499116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 Engineering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64056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956370" y="2686824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1665923" y="2725341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 Numerical Data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65923" y="3644384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Focused on relevant numeric columns for models.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726305" y="2640568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818876" y="2686824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528429" y="2725341"/>
            <a:ext cx="2751892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Create New Features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528429" y="3644384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Transformed time and delay columns into impactful metrics.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863798" y="5322451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56370" y="5368707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1665923" y="540722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Clean Features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665923" y="5940743"/>
            <a:ext cx="661427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Removed irrelevant and duplicate columns to avoid noise.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781294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Building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922746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418987" y="2922746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Selection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418987" y="3456265"/>
            <a:ext cx="686121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Used </a:t>
            </a:r>
            <a:r>
              <a:rPr lang="en-US" sz="190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XGBoost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for prediction.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233964" y="4097893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789152" y="4097893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Training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789152" y="4631412"/>
            <a:ext cx="6491049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Trained models on engineered features with labels.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604248" y="5273040"/>
            <a:ext cx="185023" cy="928330"/>
          </a:xfrm>
          <a:prstGeom prst="roundRect">
            <a:avLst>
              <a:gd name="adj" fmla="val 56030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159437" y="527304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159437" y="5806559"/>
            <a:ext cx="6120765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Measured accuracy, precision, and recall for quality.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085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4163139"/>
            <a:ext cx="7111722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Insights &amp; Observations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5304592"/>
            <a:ext cx="4136350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125855" y="556664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 Causes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5855" y="6100167"/>
            <a:ext cx="36122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Late arrivals and weather are prime delay factors.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46965" y="5304592"/>
            <a:ext cx="4136350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509022" y="556664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Predictor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09022" y="6100167"/>
            <a:ext cx="36122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Departure delay strongly predicts arrival delay.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30132" y="5304592"/>
            <a:ext cx="4136350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892189" y="556664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Arrival Status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892189" y="6100167"/>
            <a:ext cx="36122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Most flights are on time or have minor delays.</a:t>
            </a:r>
            <a:endParaRPr lang="en-US" sz="1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332D7E-CF95-2C31-58C3-624100A19711}"/>
              </a:ext>
            </a:extLst>
          </p:cNvPr>
          <p:cNvSpPr/>
          <p:nvPr/>
        </p:nvSpPr>
        <p:spPr>
          <a:xfrm>
            <a:off x="12564094" y="7493330"/>
            <a:ext cx="2066306" cy="73627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1691878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 Faced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3798" y="2833330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665923" y="2918103"/>
            <a:ext cx="275189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Size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65923" y="3451622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Large dataset caused memory handling difficulties.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4726305" y="2833330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528429" y="2918103"/>
            <a:ext cx="2751892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Data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28429" y="3451622"/>
            <a:ext cx="2751892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delay reason values required careful imputation.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3798" y="5129689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665923" y="521446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Outliers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665923" y="5747980"/>
            <a:ext cx="6614279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Extreme delay values (&gt;3000 mins) posed analysis challenges.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531</Words>
  <Application>Microsoft Office PowerPoint</Application>
  <PresentationFormat>Custom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Maheen Shahid</cp:lastModifiedBy>
  <cp:revision>3</cp:revision>
  <dcterms:created xsi:type="dcterms:W3CDTF">2025-05-05T00:59:25Z</dcterms:created>
  <dcterms:modified xsi:type="dcterms:W3CDTF">2025-05-05T02:02:55Z</dcterms:modified>
</cp:coreProperties>
</file>